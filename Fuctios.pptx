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5" r:id="rId27"/>
    <p:sldId id="286" r:id="rId28"/>
    <p:sldId id="287" r:id="rId29"/>
    <p:sldId id="28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0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in Python: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</a:t>
            </a:r>
            <a:endParaRPr lang="en-US" dirty="0" smtClean="0"/>
          </a:p>
          <a:p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b="1" dirty="0"/>
              <a:t>function</a:t>
            </a:r>
            <a:r>
              <a:rPr lang="en-US" dirty="0"/>
              <a:t> is a block of reusable code that performs a specific task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Instead </a:t>
            </a:r>
            <a:r>
              <a:rPr lang="en-US" dirty="0"/>
              <a:t>of writing the same code again and again, we can </a:t>
            </a:r>
            <a:r>
              <a:rPr lang="en-US" b="1" dirty="0"/>
              <a:t>define a function once and use it multiple times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Functions </a:t>
            </a:r>
            <a:r>
              <a:rPr lang="en-US" dirty="0"/>
              <a:t>make code </a:t>
            </a:r>
            <a:r>
              <a:rPr lang="en-US" b="1" dirty="0"/>
              <a:t>clean, reusable, and easy to understand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4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 types : </a:t>
            </a:r>
          </a:p>
          <a:p>
            <a:endParaRPr lang="en-US" dirty="0" smtClean="0"/>
          </a:p>
          <a:p>
            <a:pPr marL="457200" indent="-457200">
              <a:buAutoNum type="arabicPeriod"/>
            </a:pPr>
            <a:r>
              <a:rPr lang="en-US" b="1" dirty="0" smtClean="0"/>
              <a:t>Built-in Functions</a:t>
            </a:r>
          </a:p>
          <a:p>
            <a:pPr marL="457200" indent="-457200">
              <a:buAutoNum type="arabicPeriod"/>
            </a:pPr>
            <a:r>
              <a:rPr lang="en-US" b="1" dirty="0" smtClean="0"/>
              <a:t>User-defined Functions</a:t>
            </a:r>
          </a:p>
          <a:p>
            <a:pPr marL="457200" indent="-457200">
              <a:buAutoNum type="arabicPeriod"/>
            </a:pPr>
            <a:r>
              <a:rPr lang="en-US" b="1" dirty="0" smtClean="0"/>
              <a:t>Lambda Functions</a:t>
            </a:r>
          </a:p>
          <a:p>
            <a:pPr marL="457200" indent="-457200">
              <a:buAutoNum type="arabicPeriod"/>
            </a:pPr>
            <a:r>
              <a:rPr lang="en-US" b="1" dirty="0" smtClean="0"/>
              <a:t>Recursive Functions.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7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Built-in </a:t>
            </a:r>
            <a:r>
              <a:rPr lang="en-US" b="1" dirty="0" smtClean="0"/>
              <a:t>Functions: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These are already available in Python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Examples: print(), </a:t>
            </a:r>
            <a:r>
              <a:rPr lang="en-US" dirty="0" err="1"/>
              <a:t>len</a:t>
            </a:r>
            <a:r>
              <a:rPr lang="en-US" dirty="0"/>
              <a:t>(), max(), type(), sum(), etc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of Built-in </a:t>
            </a:r>
            <a:r>
              <a:rPr lang="en-US" dirty="0" smtClean="0"/>
              <a:t>functions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("Python"))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print(max</a:t>
            </a:r>
            <a:r>
              <a:rPr lang="en-US" dirty="0"/>
              <a:t>([1, 5, 8, 3]))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print(sum</a:t>
            </a:r>
            <a:r>
              <a:rPr lang="en-US" dirty="0"/>
              <a:t>([10, 20, 30</a:t>
            </a:r>
            <a:r>
              <a:rPr lang="en-US" dirty="0" smtClean="0"/>
              <a:t>]))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7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990600"/>
          </a:xfrm>
        </p:spPr>
        <p:txBody>
          <a:bodyPr>
            <a:normAutofit/>
          </a:bodyPr>
          <a:lstStyle/>
          <a:p>
            <a:r>
              <a:rPr lang="en-US" sz="3200" b="1" dirty="0"/>
              <a:t>User-defined </a:t>
            </a:r>
            <a:r>
              <a:rPr lang="en-US" sz="3200" b="1" dirty="0" smtClean="0"/>
              <a:t>Functions: 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2000" dirty="0">
                <a:solidFill>
                  <a:schemeClr val="tx1"/>
                </a:solidFill>
              </a:rPr>
              <a:t>We can create our own functions using the </a:t>
            </a:r>
            <a:r>
              <a:rPr lang="en-US" sz="2000" b="1" dirty="0" err="1">
                <a:solidFill>
                  <a:schemeClr val="tx1"/>
                </a:solidFill>
              </a:rPr>
              <a:t>def</a:t>
            </a:r>
            <a:r>
              <a:rPr lang="en-US" sz="2000" dirty="0">
                <a:solidFill>
                  <a:schemeClr val="tx1"/>
                </a:solidFill>
              </a:rPr>
              <a:t> keyword.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 smtClean="0"/>
              <a:t>Types</a:t>
            </a:r>
            <a:r>
              <a:rPr lang="en-US" sz="2000" dirty="0"/>
              <a:t>: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/>
              <a:t>without parameters: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/>
              <a:t>def</a:t>
            </a:r>
            <a:r>
              <a:rPr lang="en-US" sz="2000" dirty="0"/>
              <a:t> </a:t>
            </a:r>
            <a:r>
              <a:rPr lang="en-US" sz="2000" dirty="0" smtClean="0"/>
              <a:t>wish():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print</a:t>
            </a:r>
            <a:r>
              <a:rPr lang="en-US" sz="2000" dirty="0" smtClean="0"/>
              <a:t>(“Hi, </a:t>
            </a:r>
            <a:r>
              <a:rPr lang="en-US" sz="2000" dirty="0"/>
              <a:t>welcome to </a:t>
            </a:r>
            <a:r>
              <a:rPr lang="en-US" sz="2000" dirty="0" smtClean="0"/>
              <a:t>SVEC!")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wish()  </a:t>
            </a:r>
            <a:r>
              <a:rPr lang="en-US" sz="2000" dirty="0"/>
              <a:t># calling the function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with </a:t>
            </a:r>
            <a:r>
              <a:rPr lang="en-US" sz="2000" b="1" dirty="0" smtClean="0"/>
              <a:t>parameters: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/>
              <a:t>def</a:t>
            </a:r>
            <a:r>
              <a:rPr lang="en-US" sz="2000" dirty="0"/>
              <a:t> add(a, b):</a:t>
            </a:r>
          </a:p>
          <a:p>
            <a:pPr marL="0" indent="0">
              <a:buNone/>
            </a:pPr>
            <a:r>
              <a:rPr lang="en-US" sz="2000" dirty="0"/>
              <a:t>    print("Sum is:", a + b</a:t>
            </a:r>
            <a:r>
              <a:rPr lang="en-US" sz="2000" dirty="0" smtClean="0"/>
              <a:t>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add(5, </a:t>
            </a:r>
            <a:r>
              <a:rPr lang="en-US" sz="2000" dirty="0" smtClean="0"/>
              <a:t>9) 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05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return value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square(x):</a:t>
            </a:r>
          </a:p>
          <a:p>
            <a:pPr marL="0" indent="0">
              <a:buNone/>
            </a:pPr>
            <a:r>
              <a:rPr lang="en-US" dirty="0"/>
              <a:t>    a= x * x</a:t>
            </a:r>
          </a:p>
          <a:p>
            <a:pPr marL="0" indent="0">
              <a:buNone/>
            </a:pPr>
            <a:r>
              <a:rPr lang="en-US" dirty="0"/>
              <a:t>    return a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print("Square:", square(6))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9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34400" cy="9906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/>
            </a:r>
            <a:br>
              <a:rPr lang="en-US" sz="2000" b="1" dirty="0" smtClean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/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 smtClean="0">
                <a:solidFill>
                  <a:schemeClr val="tx1"/>
                </a:solidFill>
              </a:rPr>
              <a:t>3. Lambda </a:t>
            </a:r>
            <a:r>
              <a:rPr lang="en-US" sz="2000" b="1" dirty="0">
                <a:solidFill>
                  <a:schemeClr val="tx1"/>
                </a:solidFill>
              </a:rPr>
              <a:t>Functions (Anonymous Functions</a:t>
            </a:r>
            <a:r>
              <a:rPr lang="en-US" sz="2000" b="1" dirty="0" smtClean="0">
                <a:solidFill>
                  <a:schemeClr val="tx1"/>
                </a:solidFill>
              </a:rPr>
              <a:t>):</a:t>
            </a:r>
            <a:br>
              <a:rPr lang="en-US" sz="2000" b="1" dirty="0" smtClean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/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 </a:t>
            </a:r>
            <a:r>
              <a:rPr lang="en-US" sz="2000" b="1" dirty="0">
                <a:solidFill>
                  <a:schemeClr val="tx1"/>
                </a:solidFill>
              </a:rPr>
              <a:t>lambda function</a:t>
            </a:r>
            <a:r>
              <a:rPr lang="en-US" sz="2000" dirty="0">
                <a:solidFill>
                  <a:schemeClr val="tx1"/>
                </a:solidFill>
              </a:rPr>
              <a:t> is a short, one-line function without using def.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Syntax: lambda arguments: expression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square </a:t>
            </a:r>
            <a:r>
              <a:rPr lang="en-US" dirty="0"/>
              <a:t>= lambda x: x * x</a:t>
            </a:r>
          </a:p>
          <a:p>
            <a:pPr marL="0" indent="0">
              <a:buNone/>
            </a:pPr>
            <a:r>
              <a:rPr lang="en-US" dirty="0" smtClean="0"/>
              <a:t>print(square(5))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add </a:t>
            </a:r>
            <a:r>
              <a:rPr lang="en-US" dirty="0"/>
              <a:t>= lambda a, b: a + b</a:t>
            </a:r>
          </a:p>
          <a:p>
            <a:pPr marL="0" indent="0">
              <a:buNone/>
            </a:pPr>
            <a:r>
              <a:rPr lang="en-US" dirty="0"/>
              <a:t>print(add(10, 20</a:t>
            </a:r>
            <a:r>
              <a:rPr lang="en-US" dirty="0" smtClean="0"/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9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4. Recursive Functions: </a:t>
            </a: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 function that calls itself to solve a problem (used in factorial, Fibonacci, etc.).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/>
              <a:t>factorial(n):</a:t>
            </a:r>
          </a:p>
          <a:p>
            <a:pPr marL="0" indent="0">
              <a:buNone/>
            </a:pPr>
            <a:r>
              <a:rPr lang="en-US" dirty="0"/>
              <a:t>    if n == 1:</a:t>
            </a:r>
          </a:p>
          <a:p>
            <a:pPr marL="0" indent="0">
              <a:buNone/>
            </a:pPr>
            <a:r>
              <a:rPr lang="en-US" dirty="0"/>
              <a:t>        return 1</a:t>
            </a:r>
          </a:p>
          <a:p>
            <a:pPr marL="0" indent="0">
              <a:buNone/>
            </a:pPr>
            <a:r>
              <a:rPr lang="en-US" dirty="0"/>
              <a:t>    else:</a:t>
            </a:r>
          </a:p>
          <a:p>
            <a:pPr marL="0" indent="0">
              <a:buNone/>
            </a:pPr>
            <a:r>
              <a:rPr lang="en-US" dirty="0"/>
              <a:t>        return n * factorial(n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print(factorial(5</a:t>
            </a:r>
            <a:r>
              <a:rPr lang="en-US" dirty="0" smtClean="0"/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9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Built-in Functions → already available (print, </a:t>
            </a:r>
            <a:r>
              <a:rPr lang="en-US" sz="2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len</a:t>
            </a: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, sum, etc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.)</a:t>
            </a:r>
          </a:p>
          <a:p>
            <a:pPr marL="0" indent="0">
              <a:buNone/>
            </a:pP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User-defined Functions → created by the programmer</a:t>
            </a: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without parameters</a:t>
            </a: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with parameters</a:t>
            </a: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with return 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 (optional)</a:t>
            </a:r>
          </a:p>
          <a:p>
            <a:pPr marL="0" indent="0">
              <a:buNone/>
            </a:pP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Lambda Functions → short one-line 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functions</a:t>
            </a:r>
          </a:p>
          <a:p>
            <a:pPr marL="0" indent="0">
              <a:buNone/>
            </a:pP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200" dirty="0">
                <a:latin typeface="Verdana" pitchFamily="34" charset="0"/>
                <a:ea typeface="Verdana" pitchFamily="34" charset="0"/>
                <a:cs typeface="Verdana" pitchFamily="34" charset="0"/>
              </a:rPr>
              <a:t>Recursive Functions → function calling itself</a:t>
            </a:r>
          </a:p>
          <a:p>
            <a:pPr>
              <a:buFont typeface="Wingdings" pitchFamily="2" charset="2"/>
              <a:buChar char="v"/>
            </a:pP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5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</a:t>
            </a:r>
            <a:r>
              <a:rPr lang="en-US" dirty="0" err="1"/>
              <a:t>vs</a:t>
            </a:r>
            <a:r>
              <a:rPr lang="en-US" dirty="0"/>
              <a:t> Arguments in </a:t>
            </a:r>
            <a:r>
              <a:rPr lang="en-US" dirty="0" smtClean="0"/>
              <a:t>Python: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Parameters: </a:t>
            </a:r>
            <a:endParaRPr lang="en-US" b="1" dirty="0"/>
          </a:p>
          <a:p>
            <a:r>
              <a:rPr lang="en-US" b="1" dirty="0"/>
              <a:t>Definition inside a function</a:t>
            </a:r>
            <a:r>
              <a:rPr lang="en-US" dirty="0"/>
              <a:t>.</a:t>
            </a:r>
          </a:p>
          <a:p>
            <a:r>
              <a:rPr lang="en-US" dirty="0"/>
              <a:t>They act like </a:t>
            </a:r>
            <a:r>
              <a:rPr lang="en-US" b="1" dirty="0"/>
              <a:t>placeholders/variables</a:t>
            </a:r>
            <a:r>
              <a:rPr lang="en-US" dirty="0"/>
              <a:t> that receive values when the function is called.</a:t>
            </a:r>
          </a:p>
          <a:p>
            <a:r>
              <a:rPr lang="en-US" dirty="0"/>
              <a:t>Declared in the function </a:t>
            </a:r>
            <a:r>
              <a:rPr lang="en-US" b="1" dirty="0"/>
              <a:t>definition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smtClean="0"/>
              <a:t>wish(name</a:t>
            </a:r>
            <a:r>
              <a:rPr lang="en-US" dirty="0"/>
              <a:t>):   </a:t>
            </a:r>
            <a:r>
              <a:rPr lang="en-US" dirty="0" smtClean="0"/>
              <a:t>  # </a:t>
            </a:r>
            <a:r>
              <a:rPr lang="en-US" dirty="0"/>
              <a:t>"name" is a parameter</a:t>
            </a:r>
          </a:p>
          <a:p>
            <a:pPr marL="0" indent="0">
              <a:buNone/>
            </a:pPr>
            <a:r>
              <a:rPr lang="en-US" dirty="0"/>
              <a:t>    print("Hello,", name)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7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/>
              <a:t>Arguments:</a:t>
            </a:r>
          </a:p>
          <a:p>
            <a:endParaRPr lang="en-US" b="1" dirty="0"/>
          </a:p>
          <a:p>
            <a:r>
              <a:rPr lang="en-US" b="1" dirty="0"/>
              <a:t>Actual values</a:t>
            </a:r>
            <a:r>
              <a:rPr lang="en-US" dirty="0"/>
              <a:t> you pass when calling the function.</a:t>
            </a:r>
          </a:p>
          <a:p>
            <a:r>
              <a:rPr lang="en-US" dirty="0"/>
              <a:t>They </a:t>
            </a:r>
            <a:r>
              <a:rPr lang="en-US" b="1" dirty="0"/>
              <a:t>fill the parameters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smtClean="0"/>
              <a:t>wish(name): </a:t>
            </a:r>
            <a:r>
              <a:rPr lang="en-US" dirty="0"/>
              <a:t>  # "name" is a parameter</a:t>
            </a:r>
          </a:p>
          <a:p>
            <a:pPr marL="0" indent="0">
              <a:buNone/>
            </a:pPr>
            <a:r>
              <a:rPr lang="en-US" dirty="0"/>
              <a:t>    print("Hello,", name)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wish("</a:t>
            </a:r>
            <a:r>
              <a:rPr lang="en-US" dirty="0" err="1"/>
              <a:t>sai</a:t>
            </a:r>
            <a:r>
              <a:rPr lang="en-US" dirty="0" smtClean="0"/>
              <a:t>")   # </a:t>
            </a:r>
            <a:r>
              <a:rPr lang="en-US" dirty="0" err="1" smtClean="0"/>
              <a:t>sai</a:t>
            </a:r>
            <a:r>
              <a:rPr lang="en-US" dirty="0" smtClean="0"/>
              <a:t> is a argument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7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add(a, b):      # a, b → Parameters</a:t>
            </a:r>
          </a:p>
          <a:p>
            <a:pPr marL="0" indent="0">
              <a:buNone/>
            </a:pPr>
            <a:r>
              <a:rPr lang="en-US" dirty="0" smtClean="0"/>
              <a:t>    return a + b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result = add(5, 10)   # 5, 10 → Arguments</a:t>
            </a:r>
          </a:p>
          <a:p>
            <a:pPr marL="0" indent="0">
              <a:buNone/>
            </a:pPr>
            <a:r>
              <a:rPr lang="en-US" dirty="0" smtClean="0"/>
              <a:t>print(result)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Remember like:: 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Parameters</a:t>
            </a:r>
            <a:r>
              <a:rPr lang="en-US" dirty="0"/>
              <a:t> = variables in the function definition.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Arguments</a:t>
            </a:r>
            <a:r>
              <a:rPr lang="en-US" dirty="0"/>
              <a:t> = actual values passed during function call.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7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Function </a:t>
            </a:r>
            <a:r>
              <a:rPr lang="en-US" dirty="0" err="1"/>
              <a:t>vs</a:t>
            </a:r>
            <a:r>
              <a:rPr lang="en-US" dirty="0"/>
              <a:t> Called </a:t>
            </a:r>
            <a:r>
              <a:rPr lang="en-US" dirty="0" smtClean="0"/>
              <a:t>Function: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Called Function:</a:t>
            </a: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The function that is </a:t>
            </a:r>
            <a:r>
              <a:rPr lang="en-US" b="1" dirty="0"/>
              <a:t>defined</a:t>
            </a:r>
            <a:r>
              <a:rPr lang="en-US" dirty="0"/>
              <a:t> and contains the code you want to run.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the function that </a:t>
            </a:r>
            <a:r>
              <a:rPr lang="en-US" b="1" dirty="0"/>
              <a:t>performs the task</a:t>
            </a:r>
            <a:r>
              <a:rPr lang="en-US" dirty="0"/>
              <a:t> when invoked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Calling Function:</a:t>
            </a: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The function (or line of code) that </a:t>
            </a:r>
            <a:r>
              <a:rPr lang="en-US" b="1" dirty="0"/>
              <a:t>calls/invokes</a:t>
            </a:r>
            <a:r>
              <a:rPr lang="en-US" dirty="0"/>
              <a:t> another function.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It’s the one that </a:t>
            </a:r>
            <a:r>
              <a:rPr lang="en-US" b="1" dirty="0"/>
              <a:t>requests the execution</a:t>
            </a:r>
            <a:r>
              <a:rPr lang="en-US" dirty="0"/>
              <a:t> of the called function.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7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Ex:1.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smtClean="0"/>
              <a:t>wish():               #Called </a:t>
            </a:r>
            <a:r>
              <a:rPr lang="en-US" dirty="0"/>
              <a:t>function (defined here)</a:t>
            </a:r>
          </a:p>
          <a:p>
            <a:pPr marL="0" indent="0">
              <a:buNone/>
            </a:pPr>
            <a:r>
              <a:rPr lang="en-US" dirty="0"/>
              <a:t>    print("Hello, Welcome!")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wish()             #Calling </a:t>
            </a:r>
            <a:r>
              <a:rPr lang="en-US" dirty="0"/>
              <a:t>function (we are calling greet here)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39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Ex: 2.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add(a, b):            # </a:t>
            </a:r>
            <a:r>
              <a:rPr lang="en-US" dirty="0" smtClean="0"/>
              <a:t>Called </a:t>
            </a:r>
            <a:r>
              <a:rPr lang="en-US" dirty="0"/>
              <a:t>function</a:t>
            </a:r>
          </a:p>
          <a:p>
            <a:pPr marL="0" indent="0">
              <a:buNone/>
            </a:pPr>
            <a:r>
              <a:rPr lang="en-US" dirty="0"/>
              <a:t>    return a +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calculate():          </a:t>
            </a:r>
            <a:r>
              <a:rPr lang="en-US" dirty="0" smtClean="0"/>
              <a:t>#Calling </a:t>
            </a:r>
            <a:r>
              <a:rPr lang="en-US" dirty="0"/>
              <a:t>function</a:t>
            </a:r>
          </a:p>
          <a:p>
            <a:pPr marL="0" indent="0">
              <a:buNone/>
            </a:pPr>
            <a:r>
              <a:rPr lang="en-US" dirty="0"/>
              <a:t>    result = add(5, 10)   # Here, calculate() is calling add()</a:t>
            </a:r>
          </a:p>
          <a:p>
            <a:pPr marL="0" indent="0">
              <a:buNone/>
            </a:pPr>
            <a:r>
              <a:rPr lang="en-US" dirty="0"/>
              <a:t>    print("Result:", result)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calculate()               </a:t>
            </a:r>
            <a:r>
              <a:rPr lang="en-US" dirty="0" smtClean="0"/>
              <a:t>#This </a:t>
            </a:r>
            <a:r>
              <a:rPr lang="en-US" dirty="0"/>
              <a:t>is also a calling </a:t>
            </a:r>
            <a:r>
              <a:rPr lang="en-US" dirty="0" smtClean="0"/>
              <a:t>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Analogy: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Called function</a:t>
            </a:r>
            <a:r>
              <a:rPr lang="en-US" sz="2000" dirty="0"/>
              <a:t> → The </a:t>
            </a:r>
            <a:r>
              <a:rPr lang="en-US" sz="2000" b="1" dirty="0"/>
              <a:t>chef</a:t>
            </a:r>
            <a:r>
              <a:rPr lang="en-US" sz="2000" dirty="0"/>
              <a:t> who makes the pizza.</a:t>
            </a:r>
          </a:p>
          <a:p>
            <a:pPr marL="0" indent="0">
              <a:buNone/>
            </a:pPr>
            <a:r>
              <a:rPr lang="en-US" sz="2000" b="1" dirty="0"/>
              <a:t>Calling function</a:t>
            </a:r>
            <a:r>
              <a:rPr lang="en-US" sz="2000" dirty="0"/>
              <a:t> → The </a:t>
            </a:r>
            <a:r>
              <a:rPr lang="en-US" sz="2000" b="1" dirty="0" smtClean="0"/>
              <a:t>customer</a:t>
            </a:r>
            <a:r>
              <a:rPr lang="en-US" sz="2000" dirty="0" smtClean="0"/>
              <a:t> </a:t>
            </a:r>
            <a:r>
              <a:rPr lang="en-US" sz="2000" dirty="0"/>
              <a:t>who requests the pizza.</a:t>
            </a:r>
          </a:p>
          <a:p>
            <a:pPr marL="0" indent="0">
              <a:buNone/>
            </a:pPr>
            <a:r>
              <a:rPr lang="en-US" sz="2000" dirty="0"/>
              <a:t>Without the customer calling, the chef won’t start cooking!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So </a:t>
            </a:r>
            <a:r>
              <a:rPr lang="en-US" sz="2000" dirty="0"/>
              <a:t>in short:</a:t>
            </a:r>
          </a:p>
          <a:p>
            <a:pPr marL="0" indent="0">
              <a:buNone/>
            </a:pPr>
            <a:r>
              <a:rPr lang="en-US" sz="2000" b="1" dirty="0"/>
              <a:t>Called function</a:t>
            </a:r>
            <a:r>
              <a:rPr lang="en-US" sz="2000" dirty="0"/>
              <a:t> = the function being executed.</a:t>
            </a:r>
          </a:p>
          <a:p>
            <a:pPr marL="0" indent="0">
              <a:buNone/>
            </a:pPr>
            <a:r>
              <a:rPr lang="en-US" sz="2000" b="1" dirty="0"/>
              <a:t>Calling function</a:t>
            </a:r>
            <a:r>
              <a:rPr lang="en-US" sz="2000" dirty="0"/>
              <a:t> = the function (or statement) that initiates the execution.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smtClean="0"/>
              <a:t>Arguments: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b="1" dirty="0"/>
              <a:t>Positional</a:t>
            </a:r>
            <a:r>
              <a:rPr lang="en-US" dirty="0"/>
              <a:t> → order matters</a:t>
            </a:r>
            <a:r>
              <a:rPr lang="en-US" dirty="0" smtClean="0"/>
              <a:t>.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Keyword</a:t>
            </a:r>
            <a:r>
              <a:rPr lang="en-US" dirty="0"/>
              <a:t> → use parameter name, order doesn’t matter.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Default</a:t>
            </a:r>
            <a:r>
              <a:rPr lang="en-US" dirty="0"/>
              <a:t> → if no value is given, use default.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Variable-length</a:t>
            </a:r>
            <a:r>
              <a:rPr lang="en-US" dirty="0"/>
              <a:t> →</a:t>
            </a:r>
          </a:p>
          <a:p>
            <a:pPr marL="0" indent="0">
              <a:buNone/>
            </a:pPr>
            <a:r>
              <a:rPr lang="en-US" dirty="0"/>
              <a:t>*</a:t>
            </a:r>
            <a:r>
              <a:rPr lang="en-US" dirty="0" err="1"/>
              <a:t>args</a:t>
            </a:r>
            <a:r>
              <a:rPr lang="en-US" dirty="0"/>
              <a:t> → many positional values → tuple.</a:t>
            </a:r>
          </a:p>
          <a:p>
            <a:pPr marL="0" indent="0">
              <a:buNone/>
            </a:pPr>
            <a:r>
              <a:rPr lang="en-US" dirty="0"/>
              <a:t>**</a:t>
            </a:r>
            <a:r>
              <a:rPr lang="en-US" dirty="0" err="1"/>
              <a:t>kwargs</a:t>
            </a:r>
            <a:r>
              <a:rPr lang="en-US" dirty="0"/>
              <a:t> → many keyword values → dictionary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5) Mixed</a:t>
            </a:r>
            <a:r>
              <a:rPr lang="en-US" dirty="0" smtClean="0"/>
              <a:t> </a:t>
            </a:r>
            <a:r>
              <a:rPr lang="en-US" dirty="0"/>
              <a:t>→ combine all in a specific order.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Positional </a:t>
            </a:r>
            <a:r>
              <a:rPr lang="en-US" b="1" dirty="0" smtClean="0"/>
              <a:t>Arguments: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The values are passed </a:t>
            </a:r>
            <a:r>
              <a:rPr lang="en-US" b="1" dirty="0"/>
              <a:t>in the same order</a:t>
            </a:r>
            <a:r>
              <a:rPr lang="en-US" dirty="0"/>
              <a:t> as parameters are defined.</a:t>
            </a:r>
          </a:p>
          <a:p>
            <a:pPr marL="0" indent="0">
              <a:buNone/>
            </a:pPr>
            <a:r>
              <a:rPr lang="en-US" dirty="0"/>
              <a:t>Position matters here.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student(name, age):</a:t>
            </a:r>
          </a:p>
          <a:p>
            <a:pPr marL="0" indent="0">
              <a:buNone/>
            </a:pPr>
            <a:r>
              <a:rPr lang="en-US" dirty="0"/>
              <a:t>    print("Name:", name)</a:t>
            </a:r>
          </a:p>
          <a:p>
            <a:pPr marL="0" indent="0">
              <a:buNone/>
            </a:pPr>
            <a:r>
              <a:rPr lang="en-US" dirty="0"/>
              <a:t>    print("Age:", age)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student("Sai", 20)   # Positional: name="Sai", age=20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Keyword </a:t>
            </a:r>
            <a:r>
              <a:rPr lang="en-US" b="1" dirty="0" smtClean="0"/>
              <a:t>Arguments: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You specify </a:t>
            </a:r>
            <a:r>
              <a:rPr lang="en-US" b="1" dirty="0"/>
              <a:t>parameter names</a:t>
            </a:r>
            <a:r>
              <a:rPr lang="en-US" dirty="0"/>
              <a:t> when passing arguments.</a:t>
            </a:r>
          </a:p>
          <a:p>
            <a:pPr marL="0" indent="0">
              <a:buNone/>
            </a:pPr>
            <a:r>
              <a:rPr lang="en-US" dirty="0"/>
              <a:t>Order doesn’t matter.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student(name, age):</a:t>
            </a:r>
          </a:p>
          <a:p>
            <a:pPr marL="0" indent="0">
              <a:buNone/>
            </a:pPr>
            <a:r>
              <a:rPr lang="en-US" dirty="0"/>
              <a:t>    print("Name:", name)</a:t>
            </a:r>
          </a:p>
          <a:p>
            <a:pPr marL="0" indent="0">
              <a:buNone/>
            </a:pPr>
            <a:r>
              <a:rPr lang="en-US" dirty="0"/>
              <a:t>    print("Age:", age)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student(age=21, </a:t>
            </a:r>
            <a:r>
              <a:rPr lang="en-US" dirty="0"/>
              <a:t>name</a:t>
            </a:r>
            <a:r>
              <a:rPr lang="en-US" dirty="0" smtClean="0"/>
              <a:t>=“Ram")   </a:t>
            </a:r>
            <a:r>
              <a:rPr lang="en-US" dirty="0"/>
              <a:t># Order doesn’t matter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Default </a:t>
            </a:r>
            <a:r>
              <a:rPr lang="en-US" b="1" dirty="0" smtClean="0"/>
              <a:t>Arguments: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You assign a </a:t>
            </a:r>
            <a:r>
              <a:rPr lang="en-US" b="1" dirty="0"/>
              <a:t>default value</a:t>
            </a:r>
            <a:r>
              <a:rPr lang="en-US" dirty="0"/>
              <a:t> in the function definition.</a:t>
            </a:r>
          </a:p>
          <a:p>
            <a:pPr marL="0" indent="0">
              <a:buNone/>
            </a:pPr>
            <a:r>
              <a:rPr lang="en-US" dirty="0"/>
              <a:t>If the caller does not provide that argument, the default is used.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smtClean="0"/>
              <a:t>wish(name= "</a:t>
            </a:r>
            <a:r>
              <a:rPr lang="en-US" dirty="0"/>
              <a:t>Guest"):</a:t>
            </a:r>
          </a:p>
          <a:p>
            <a:pPr marL="0" indent="0">
              <a:buNone/>
            </a:pPr>
            <a:r>
              <a:rPr lang="en-US" dirty="0"/>
              <a:t>    print("Hello,", name)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wish("</a:t>
            </a:r>
            <a:r>
              <a:rPr lang="en-US" dirty="0"/>
              <a:t>Sai")     # Output → Hello, Sai</a:t>
            </a:r>
          </a:p>
          <a:p>
            <a:pPr marL="0" indent="0">
              <a:buNone/>
            </a:pPr>
            <a:r>
              <a:rPr lang="en-US" dirty="0" smtClean="0"/>
              <a:t>wish()          </a:t>
            </a:r>
            <a:r>
              <a:rPr lang="en-US" dirty="0"/>
              <a:t># Output → Hello, Guest (default used)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Variable-length </a:t>
            </a:r>
            <a:r>
              <a:rPr lang="en-US" b="1" dirty="0" smtClean="0"/>
              <a:t>Arguments: </a:t>
            </a:r>
            <a:endParaRPr lang="en-US" b="1" dirty="0"/>
          </a:p>
          <a:p>
            <a:r>
              <a:rPr lang="en-US" dirty="0"/>
              <a:t>Sometimes we don’t know how many arguments will be passed.</a:t>
            </a:r>
            <a:br>
              <a:rPr lang="en-US" dirty="0"/>
            </a:br>
            <a:r>
              <a:rPr lang="en-US" dirty="0"/>
              <a:t>Python allows two types:</a:t>
            </a:r>
          </a:p>
          <a:p>
            <a:r>
              <a:rPr lang="en-US" b="1" dirty="0"/>
              <a:t>a) *</a:t>
            </a:r>
            <a:r>
              <a:rPr lang="en-US" b="1" dirty="0" err="1"/>
              <a:t>args</a:t>
            </a:r>
            <a:r>
              <a:rPr lang="en-US" b="1" dirty="0"/>
              <a:t> (Non-keyword Variable Arguments)</a:t>
            </a:r>
          </a:p>
          <a:p>
            <a:r>
              <a:rPr lang="en-US" dirty="0"/>
              <a:t>b) </a:t>
            </a:r>
            <a:r>
              <a:rPr lang="en-US" b="1" dirty="0"/>
              <a:t>**</a:t>
            </a:r>
            <a:r>
              <a:rPr lang="en-US" b="1" dirty="0" err="1"/>
              <a:t>kwargs</a:t>
            </a:r>
            <a:r>
              <a:rPr lang="en-US" b="1" dirty="0"/>
              <a:t> (Keyword Variable Arguments)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8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*</a:t>
            </a:r>
            <a:r>
              <a:rPr lang="en-US" b="1" dirty="0" err="1" smtClean="0"/>
              <a:t>args</a:t>
            </a:r>
            <a:r>
              <a:rPr lang="en-US" b="1" dirty="0" smtClean="0"/>
              <a:t> </a:t>
            </a:r>
            <a:r>
              <a:rPr lang="en-US" b="1" dirty="0"/>
              <a:t>(Non-keyword Variable Arguments</a:t>
            </a:r>
            <a:r>
              <a:rPr lang="en-US" b="1" dirty="0" smtClean="0"/>
              <a:t>):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Collects </a:t>
            </a:r>
            <a:r>
              <a:rPr lang="en-US" b="1" dirty="0"/>
              <a:t>multiple positional arguments</a:t>
            </a:r>
            <a:r>
              <a:rPr lang="en-US" dirty="0"/>
              <a:t> into a tuple.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add(*numbers):</a:t>
            </a:r>
          </a:p>
          <a:p>
            <a:pPr marL="0" indent="0">
              <a:buNone/>
            </a:pPr>
            <a:r>
              <a:rPr lang="en-US" dirty="0"/>
              <a:t>    total = 0</a:t>
            </a:r>
          </a:p>
          <a:p>
            <a:pPr marL="0" indent="0">
              <a:buNone/>
            </a:pPr>
            <a:r>
              <a:rPr lang="en-US" dirty="0"/>
              <a:t>    for n in numbers:</a:t>
            </a:r>
          </a:p>
          <a:p>
            <a:pPr marL="0" indent="0">
              <a:buNone/>
            </a:pPr>
            <a:r>
              <a:rPr lang="en-US" dirty="0"/>
              <a:t>        total += n</a:t>
            </a:r>
          </a:p>
          <a:p>
            <a:pPr marL="0" indent="0">
              <a:buNone/>
            </a:pPr>
            <a:r>
              <a:rPr lang="en-US" dirty="0"/>
              <a:t>    print("Sum:", total)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add(10, 20)              # Output → Sum: 30</a:t>
            </a:r>
          </a:p>
          <a:p>
            <a:pPr marL="0" indent="0">
              <a:buNone/>
            </a:pPr>
            <a:r>
              <a:rPr lang="en-US" dirty="0"/>
              <a:t>add(5, 10, 15, 20, 25)   # Output → Sum: 75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2971800"/>
            <a:ext cx="4495800" cy="25146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numbers=[10,20,30,40,50]</a:t>
            </a:r>
          </a:p>
          <a:p>
            <a:r>
              <a:rPr lang="en-US" dirty="0"/>
              <a:t>total = 0</a:t>
            </a:r>
          </a:p>
          <a:p>
            <a:r>
              <a:rPr lang="en-US" dirty="0"/>
              <a:t>for n in numbers:</a:t>
            </a:r>
          </a:p>
          <a:p>
            <a:r>
              <a:rPr lang="en-US" dirty="0"/>
              <a:t>  total += n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print("Sum:", total)</a:t>
            </a:r>
          </a:p>
        </p:txBody>
      </p:sp>
    </p:spTree>
    <p:extLst>
      <p:ext uri="{BB962C8B-B14F-4D97-AF65-F5344CB8AC3E}">
        <p14:creationId xmlns:p14="http://schemas.microsoft.com/office/powerpoint/2010/main" val="4003792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b) **</a:t>
            </a:r>
            <a:r>
              <a:rPr lang="en-US" b="1" dirty="0" err="1"/>
              <a:t>kwargs</a:t>
            </a:r>
            <a:r>
              <a:rPr lang="en-US" b="1" dirty="0"/>
              <a:t> (Keyword Variable Arguments</a:t>
            </a:r>
            <a:r>
              <a:rPr lang="en-US" b="1" dirty="0" smtClean="0"/>
              <a:t>):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Collects </a:t>
            </a:r>
            <a:r>
              <a:rPr lang="en-US" b="1" dirty="0"/>
              <a:t>multiple keyword arguments</a:t>
            </a:r>
            <a:r>
              <a:rPr lang="en-US" dirty="0"/>
              <a:t> into a dictionary.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details(**info):</a:t>
            </a:r>
          </a:p>
          <a:p>
            <a:pPr marL="0" indent="0">
              <a:buNone/>
            </a:pPr>
            <a:r>
              <a:rPr lang="en-US" dirty="0"/>
              <a:t>    for key, value in </a:t>
            </a:r>
            <a:r>
              <a:rPr lang="en-US" dirty="0" err="1"/>
              <a:t>info.items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print(key, ":", value)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details(name="Sai", age=20, city="Hyderabad")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629400" y="2895600"/>
            <a:ext cx="2209800" cy="2514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name : Sai</a:t>
            </a:r>
          </a:p>
          <a:p>
            <a:pPr algn="ctr"/>
            <a:r>
              <a:rPr lang="en-US" dirty="0"/>
              <a:t>age : 20</a:t>
            </a:r>
          </a:p>
          <a:p>
            <a:pPr algn="ctr"/>
            <a:r>
              <a:rPr lang="en-US" dirty="0"/>
              <a:t>city : Hyderabad</a:t>
            </a:r>
          </a:p>
        </p:txBody>
      </p:sp>
    </p:spTree>
    <p:extLst>
      <p:ext uri="{BB962C8B-B14F-4D97-AF65-F5344CB8AC3E}">
        <p14:creationId xmlns:p14="http://schemas.microsoft.com/office/powerpoint/2010/main" val="56300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5. Mixed </a:t>
            </a:r>
            <a:r>
              <a:rPr lang="en-US" b="1" dirty="0" smtClean="0"/>
              <a:t>Arguments: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You can combine different types, but order must be: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Positional </a:t>
            </a:r>
            <a:r>
              <a:rPr lang="en-US" dirty="0"/>
              <a:t>→ Default → *</a:t>
            </a:r>
            <a:r>
              <a:rPr lang="en-US" dirty="0" err="1"/>
              <a:t>args</a:t>
            </a:r>
            <a:r>
              <a:rPr lang="en-US" dirty="0"/>
              <a:t> → </a:t>
            </a:r>
            <a:r>
              <a:rPr lang="en-US" dirty="0" smtClean="0"/>
              <a:t>**</a:t>
            </a:r>
            <a:r>
              <a:rPr lang="en-US" b="1" dirty="0" err="1" smtClean="0"/>
              <a:t>kwargs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</a:t>
            </a:r>
            <a:r>
              <a:rPr lang="en-US" dirty="0"/>
              <a:t>(a, b=10, *</a:t>
            </a:r>
            <a:r>
              <a:rPr lang="en-US" dirty="0" err="1"/>
              <a:t>args</a:t>
            </a:r>
            <a:r>
              <a:rPr lang="en-US" dirty="0"/>
              <a:t>, **</a:t>
            </a:r>
            <a:r>
              <a:rPr lang="en-US" dirty="0" err="1"/>
              <a:t>kwargs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print("a:", a)</a:t>
            </a:r>
          </a:p>
          <a:p>
            <a:pPr marL="0" indent="0">
              <a:buNone/>
            </a:pPr>
            <a:r>
              <a:rPr lang="en-US" dirty="0"/>
              <a:t>    print("b:", b)</a:t>
            </a:r>
          </a:p>
          <a:p>
            <a:pPr marL="0" indent="0">
              <a:buNone/>
            </a:pPr>
            <a:r>
              <a:rPr lang="en-US" dirty="0"/>
              <a:t>    print("</a:t>
            </a:r>
            <a:r>
              <a:rPr lang="en-US" dirty="0" err="1"/>
              <a:t>args</a:t>
            </a:r>
            <a:r>
              <a:rPr lang="en-US" dirty="0"/>
              <a:t>:",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print("</a:t>
            </a:r>
            <a:r>
              <a:rPr lang="en-US" dirty="0" err="1"/>
              <a:t>kwargs</a:t>
            </a:r>
            <a:r>
              <a:rPr lang="en-US" dirty="0"/>
              <a:t>:", </a:t>
            </a:r>
            <a:r>
              <a:rPr lang="en-US" dirty="0" err="1"/>
              <a:t>kwargs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func</a:t>
            </a:r>
            <a:r>
              <a:rPr lang="en-US" dirty="0"/>
              <a:t>(5, 20, 30, 40, x=100, y=200)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48400" y="3505200"/>
            <a:ext cx="2438400" cy="266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a: 5</a:t>
            </a:r>
          </a:p>
          <a:p>
            <a:pPr algn="ctr"/>
            <a:r>
              <a:rPr lang="en-US" dirty="0"/>
              <a:t>b: 20</a:t>
            </a:r>
          </a:p>
          <a:p>
            <a:pPr algn="ctr"/>
            <a:r>
              <a:rPr lang="en-US" dirty="0" err="1"/>
              <a:t>args</a:t>
            </a:r>
            <a:r>
              <a:rPr lang="en-US" dirty="0"/>
              <a:t>: (30, 40)</a:t>
            </a:r>
          </a:p>
          <a:p>
            <a:pPr algn="ctr"/>
            <a:r>
              <a:rPr lang="en-US" dirty="0" err="1"/>
              <a:t>kwargs</a:t>
            </a:r>
            <a:r>
              <a:rPr lang="en-US" dirty="0"/>
              <a:t>: {'x': 100, 'y': 200}</a:t>
            </a:r>
          </a:p>
        </p:txBody>
      </p:sp>
    </p:spTree>
    <p:extLst>
      <p:ext uri="{BB962C8B-B14F-4D97-AF65-F5344CB8AC3E}">
        <p14:creationId xmlns:p14="http://schemas.microsoft.com/office/powerpoint/2010/main" val="563006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</a:t>
            </a:r>
            <a:r>
              <a:rPr lang="en-US" dirty="0" err="1"/>
              <a:t>vs</a:t>
            </a:r>
            <a:r>
              <a:rPr lang="en-US" dirty="0"/>
              <a:t> Local Variables in </a:t>
            </a:r>
            <a:r>
              <a:rPr lang="en-US" dirty="0" smtClean="0"/>
              <a:t>Python: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1. </a:t>
            </a:r>
            <a:r>
              <a:rPr lang="en-US" b="1" dirty="0" smtClean="0"/>
              <a:t>Definition: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Global Variable</a:t>
            </a:r>
            <a:r>
              <a:rPr lang="en-US" dirty="0"/>
              <a:t> → Declared </a:t>
            </a:r>
            <a:r>
              <a:rPr lang="en-US" b="1" dirty="0"/>
              <a:t>outside all functions</a:t>
            </a:r>
            <a:r>
              <a:rPr lang="en-US" dirty="0"/>
              <a:t>, accessible throughout the program.</a:t>
            </a:r>
          </a:p>
          <a:p>
            <a:pPr marL="0" indent="0">
              <a:buNone/>
            </a:pPr>
            <a:r>
              <a:rPr lang="en-US" b="1" dirty="0"/>
              <a:t>Local Variable</a:t>
            </a:r>
            <a:r>
              <a:rPr lang="en-US" dirty="0"/>
              <a:t> → Declared </a:t>
            </a:r>
            <a:r>
              <a:rPr lang="en-US" b="1" dirty="0"/>
              <a:t>inside a function</a:t>
            </a:r>
            <a:r>
              <a:rPr lang="en-US" dirty="0"/>
              <a:t>, accessible only within that function.</a:t>
            </a:r>
          </a:p>
          <a:p>
            <a:pPr marL="0" indent="0">
              <a:buNone/>
            </a:pPr>
            <a:r>
              <a:rPr lang="en-US" dirty="0"/>
              <a:t>x = 10   # Global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y = 5   # Local</a:t>
            </a:r>
          </a:p>
          <a:p>
            <a:pPr marL="0" indent="0">
              <a:buNone/>
            </a:pPr>
            <a:r>
              <a:rPr lang="en-US" dirty="0"/>
              <a:t>    print("Inside function, y =", 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func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print("Outside function, x =", x)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06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2. Scope (Where you can use them</a:t>
            </a:r>
            <a:r>
              <a:rPr lang="en-US" b="1" dirty="0" smtClean="0"/>
              <a:t>):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Global → can be used anywhere in the program.</a:t>
            </a:r>
          </a:p>
          <a:p>
            <a:pPr marL="0" indent="0">
              <a:buNone/>
            </a:pPr>
            <a:r>
              <a:rPr lang="en-US" dirty="0"/>
              <a:t>Local → only valid inside the function.</a:t>
            </a:r>
          </a:p>
          <a:p>
            <a:pPr marL="0" indent="0">
              <a:buNone/>
            </a:pPr>
            <a:r>
              <a:rPr lang="en-US" dirty="0"/>
              <a:t>a = 100   # Global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demo():</a:t>
            </a:r>
          </a:p>
          <a:p>
            <a:pPr marL="0" indent="0">
              <a:buNone/>
            </a:pPr>
            <a:r>
              <a:rPr lang="en-US" dirty="0"/>
              <a:t>    b = 50   # Local</a:t>
            </a:r>
          </a:p>
          <a:p>
            <a:pPr marL="0" indent="0">
              <a:buNone/>
            </a:pPr>
            <a:r>
              <a:rPr lang="en-US" dirty="0"/>
              <a:t>    print("Inside function:", a, b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demo()</a:t>
            </a:r>
          </a:p>
          <a:p>
            <a:pPr marL="0" indent="0">
              <a:buNone/>
            </a:pPr>
            <a:r>
              <a:rPr lang="en-US" dirty="0"/>
              <a:t>print("Outside function:", a)     # Works</a:t>
            </a:r>
          </a:p>
          <a:p>
            <a:pPr marL="0" indent="0">
              <a:buNone/>
            </a:pPr>
            <a:r>
              <a:rPr lang="en-US" dirty="0"/>
              <a:t># print(b)   # </a:t>
            </a:r>
            <a:r>
              <a:rPr lang="en-US" dirty="0" smtClean="0"/>
              <a:t>Error</a:t>
            </a:r>
            <a:r>
              <a:rPr lang="en-US" dirty="0"/>
              <a:t>: b not defined outside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8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3. Same Name </a:t>
            </a:r>
            <a:r>
              <a:rPr lang="en-US" b="1" dirty="0" smtClean="0"/>
              <a:t>Conflict: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If a local variable has the same name as a global, the </a:t>
            </a:r>
            <a:r>
              <a:rPr lang="en-US" b="1" dirty="0"/>
              <a:t>local variable gets priority inside the function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x = 20   # Global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test():</a:t>
            </a:r>
          </a:p>
          <a:p>
            <a:pPr marL="0" indent="0">
              <a:buNone/>
            </a:pPr>
            <a:r>
              <a:rPr lang="en-US" dirty="0"/>
              <a:t>    x = 5   # Local (shadows global)</a:t>
            </a:r>
          </a:p>
          <a:p>
            <a:pPr marL="0" indent="0">
              <a:buNone/>
            </a:pPr>
            <a:r>
              <a:rPr lang="en-US" dirty="0"/>
              <a:t>    print("Inside function, x =", x)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test()</a:t>
            </a:r>
          </a:p>
          <a:p>
            <a:pPr marL="0" indent="0">
              <a:buNone/>
            </a:pPr>
            <a:r>
              <a:rPr lang="en-US" dirty="0"/>
              <a:t>print("Outside function, x =", x)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38800" y="3276600"/>
            <a:ext cx="2667000" cy="1981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Inside function, x = 5</a:t>
            </a:r>
          </a:p>
          <a:p>
            <a:pPr algn="ctr"/>
            <a:r>
              <a:rPr lang="en-US" dirty="0"/>
              <a:t>Outside function, x = 20</a:t>
            </a:r>
          </a:p>
        </p:txBody>
      </p:sp>
    </p:spTree>
    <p:extLst>
      <p:ext uri="{BB962C8B-B14F-4D97-AF65-F5344CB8AC3E}">
        <p14:creationId xmlns:p14="http://schemas.microsoft.com/office/powerpoint/2010/main" val="3352228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b="1" dirty="0"/>
              <a:t>4. Using global </a:t>
            </a:r>
            <a:r>
              <a:rPr lang="en-US" b="1" dirty="0" smtClean="0"/>
              <a:t>Keyword:</a:t>
            </a:r>
            <a:endParaRPr lang="en-US" b="1" dirty="0"/>
          </a:p>
          <a:p>
            <a:r>
              <a:rPr lang="en-US" dirty="0"/>
              <a:t>If you want to modify a </a:t>
            </a:r>
            <a:r>
              <a:rPr lang="en-US" b="1" dirty="0"/>
              <a:t>global variable inside a function</a:t>
            </a:r>
            <a:r>
              <a:rPr lang="en-US" dirty="0"/>
              <a:t>, you must declare it using global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count = 0   # Global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increment():</a:t>
            </a:r>
          </a:p>
          <a:p>
            <a:r>
              <a:rPr lang="en-US" dirty="0"/>
              <a:t>    global count   # Declare to use global variable</a:t>
            </a:r>
          </a:p>
          <a:p>
            <a:r>
              <a:rPr lang="en-US" dirty="0"/>
              <a:t>    count += 1</a:t>
            </a:r>
          </a:p>
          <a:p>
            <a:r>
              <a:rPr lang="en-US" dirty="0"/>
              <a:t>    print("Inside function, count =", count)</a:t>
            </a:r>
          </a:p>
          <a:p>
            <a:endParaRPr lang="en-US" dirty="0"/>
          </a:p>
          <a:p>
            <a:r>
              <a:rPr lang="en-US" dirty="0"/>
              <a:t>increment()</a:t>
            </a:r>
          </a:p>
          <a:p>
            <a:r>
              <a:rPr lang="en-US" dirty="0"/>
              <a:t>increment()</a:t>
            </a:r>
          </a:p>
          <a:p>
            <a:r>
              <a:rPr lang="en-US" dirty="0"/>
              <a:t>print("Outside function, count =", count)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19800" y="4419600"/>
            <a:ext cx="3048000" cy="1981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Inside function, count = 1</a:t>
            </a:r>
          </a:p>
          <a:p>
            <a:pPr algn="ctr"/>
            <a:r>
              <a:rPr lang="en-US" dirty="0"/>
              <a:t>Inside function, count = 2</a:t>
            </a:r>
          </a:p>
          <a:p>
            <a:pPr algn="ctr"/>
            <a:r>
              <a:rPr lang="en-US" dirty="0"/>
              <a:t>Outside function, count = 2</a:t>
            </a:r>
          </a:p>
        </p:txBody>
      </p:sp>
    </p:spTree>
    <p:extLst>
      <p:ext uri="{BB962C8B-B14F-4D97-AF65-F5344CB8AC3E}">
        <p14:creationId xmlns:p14="http://schemas.microsoft.com/office/powerpoint/2010/main" val="3352228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b="1" dirty="0"/>
              <a:t>Best Practice </a:t>
            </a:r>
            <a:r>
              <a:rPr lang="en-US" b="1" dirty="0" smtClean="0"/>
              <a:t>Guidelines: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/>
              <a:t>Avoid using too many global variables</a:t>
            </a:r>
            <a:r>
              <a:rPr lang="en-US" dirty="0"/>
              <a:t> → makes code harder to debug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Use local variables as much as possible</a:t>
            </a:r>
            <a:r>
              <a:rPr lang="en-US" dirty="0"/>
              <a:t> → safer and cleaner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Use global keyword only when necessary</a:t>
            </a:r>
            <a:r>
              <a:rPr lang="en-US" dirty="0"/>
              <a:t> → e.g., counters, configuration values.</a:t>
            </a:r>
          </a:p>
        </p:txBody>
      </p:sp>
    </p:spTree>
    <p:extLst>
      <p:ext uri="{BB962C8B-B14F-4D97-AF65-F5344CB8AC3E}">
        <p14:creationId xmlns:p14="http://schemas.microsoft.com/office/powerpoint/2010/main" val="3352228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001000" cy="40386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Summary:</a:t>
            </a:r>
            <a:br>
              <a:rPr lang="en-US" sz="2400" b="1" dirty="0" smtClean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/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Global</a:t>
            </a:r>
            <a:r>
              <a:rPr lang="en-US" sz="2400" dirty="0">
                <a:solidFill>
                  <a:schemeClr val="tx1"/>
                </a:solidFill>
              </a:rPr>
              <a:t> → declared outside, accessible everywhere.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Local</a:t>
            </a:r>
            <a:r>
              <a:rPr lang="en-US" sz="2400" dirty="0">
                <a:solidFill>
                  <a:schemeClr val="tx1"/>
                </a:solidFill>
              </a:rPr>
              <a:t> → declared inside, accessible only inside.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If same name → local overrides global inside function.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To modify global → use global keyword.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Best practice → prefer local, minimize </a:t>
            </a:r>
            <a:r>
              <a:rPr lang="en-US" sz="2400" dirty="0" err="1">
                <a:solidFill>
                  <a:schemeClr val="tx1"/>
                </a:solidFill>
              </a:rPr>
              <a:t>globals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87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126</TotalTime>
  <Words>1376</Words>
  <Application>Microsoft Office PowerPoint</Application>
  <PresentationFormat>On-screen Show (4:3)</PresentationFormat>
  <Paragraphs>289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Clarity</vt:lpstr>
      <vt:lpstr>Functions in Python:</vt:lpstr>
      <vt:lpstr>Types:</vt:lpstr>
      <vt:lpstr>Built-in Functions:  </vt:lpstr>
      <vt:lpstr>User-defined Functions:  We can create our own functions using the def keyword.</vt:lpstr>
      <vt:lpstr>  </vt:lpstr>
      <vt:lpstr>  3. Lambda Functions (Anonymous Functions):  A lambda function is a short, one-line function without using def. Syntax: lambda arguments: expression </vt:lpstr>
      <vt:lpstr>4. Recursive Functions:  A function that calls itself to solve a problem (used in factorial, Fibonacci, etc.). </vt:lpstr>
      <vt:lpstr>Summary: </vt:lpstr>
      <vt:lpstr>Parameters vs Arguments in Python:</vt:lpstr>
      <vt:lpstr> </vt:lpstr>
      <vt:lpstr> </vt:lpstr>
      <vt:lpstr>Calling Function vs Called Function:</vt:lpstr>
      <vt:lpstr>Ex:1. </vt:lpstr>
      <vt:lpstr>Ex: 2. </vt:lpstr>
      <vt:lpstr>PowerPoint Presentation</vt:lpstr>
      <vt:lpstr>Types of Arguments: </vt:lpstr>
      <vt:lpstr>PowerPoint Presentation</vt:lpstr>
      <vt:lpstr>PowerPoint Presentation</vt:lpstr>
      <vt:lpstr> </vt:lpstr>
      <vt:lpstr>PowerPoint Presentation</vt:lpstr>
      <vt:lpstr>  </vt:lpstr>
      <vt:lpstr> </vt:lpstr>
      <vt:lpstr>   </vt:lpstr>
      <vt:lpstr>Global vs Local Variables in Python: </vt:lpstr>
      <vt:lpstr>   </vt:lpstr>
      <vt:lpstr>PowerPoint Presentation</vt:lpstr>
      <vt:lpstr> </vt:lpstr>
      <vt:lpstr>5. Best Practice Guidelines:</vt:lpstr>
      <vt:lpstr>Summary:  Global → declared outside, accessible everywhere. Local → declared inside, accessible only inside. If same name → local overrides global inside function. To modify global → use global keyword. Best practice → prefer local, minimize globals.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</dc:creator>
  <cp:lastModifiedBy>Windows User</cp:lastModifiedBy>
  <cp:revision>105</cp:revision>
  <dcterms:created xsi:type="dcterms:W3CDTF">2006-08-16T00:00:00Z</dcterms:created>
  <dcterms:modified xsi:type="dcterms:W3CDTF">2025-08-28T08:26:42Z</dcterms:modified>
</cp:coreProperties>
</file>